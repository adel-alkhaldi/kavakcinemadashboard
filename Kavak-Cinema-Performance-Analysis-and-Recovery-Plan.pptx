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  <p:embeddedFont>
      <p:font typeface="Montserrat Thin"/>
      <p:regular r:id="rId201323"/>
    </p:embeddedFont>
    <p:embeddedFont>
      <p:font typeface="Montserrat"/>
      <p:regular r:id="rId201324"/>
    </p:embeddedFont>
    <p:embeddedFont>
      <p:font typeface="Montserrat SemiBold"/>
      <p:regular r:id="rId201325"/>
    </p:embeddedFont>
    <p:embeddedFont>
      <p:font typeface="Montserrat Bold"/>
      <p:regular r:id="rId201326"/>
    </p:embeddedFont>
    <p:embeddedFont>
      <p:font typeface="Montserrat Black"/>
      <p:regular r:id="rId201327"/>
    </p:embeddedFont>
    <p:embeddedFont>
      <p:font typeface="Montserrat Light"/>
      <p:regular r:id="rId201328"/>
    </p:embeddedFont>
    <p:embeddedFont>
      <p:font typeface="Montserrat ExtraLight"/>
      <p:regular r:id="rId201329"/>
    </p:embeddedFont>
    <p:embeddedFont>
      <p:font typeface="Montserrat Medium"/>
      <p:regular r:id="rId201330"/>
    </p:embeddedFont>
    <p:embeddedFont>
      <p:font typeface="Montserrat ExtraBold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kavakcinemadashboard-interview.streamlit.app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3943" y="1350913"/>
            <a:ext cx="1605111" cy="254422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4" name="Text 1"/>
          <p:cNvSpPr/>
          <p:nvPr/>
        </p:nvSpPr>
        <p:spPr>
          <a:xfrm>
            <a:off x="555129" y="1391469"/>
            <a:ext cx="1899940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ANALYSIS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2146697" y="1346150"/>
            <a:ext cx="1110779" cy="263947"/>
          </a:xfrm>
          <a:prstGeom prst="roundRect">
            <a:avLst>
              <a:gd name="adj" fmla="val 61564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32645" y="1391469"/>
            <a:ext cx="1396082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RECOVERY PLAN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73943" y="1664196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Kavak Cinema: Performance Analysis &amp; Recovery Plan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73943" y="2758157"/>
            <a:ext cx="4767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data-driven strategy to achieve +20% profit growth and operational excellence.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3943" y="3377654"/>
            <a:ext cx="4767114" cy="16892"/>
          </a:xfrm>
          <a:prstGeom prst="roundRect">
            <a:avLst>
              <a:gd name="adj" fmla="val 1202468"/>
            </a:avLst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73943" y="3580656"/>
            <a:ext cx="5224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By: Adel Al-Khaldi | Tools: Excel &amp; Python (Streamlit)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1242864"/>
            <a:ext cx="789161" cy="254422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555129" y="1283419"/>
            <a:ext cx="1083990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1551384"/>
            <a:ext cx="3308003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3943" y="2110755"/>
            <a:ext cx="8196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cinema generates $501,887 annually but is operating well below its potential. The ~$100K gap to the 20% target is achievable. Our modelled initiatives project $638,618, exceeding the target by $36,354.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3943" y="2764110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$501,887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1589782" y="3380110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Baseline Annual Profit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3943" y="3683943"/>
            <a:ext cx="4013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Full-year baseline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56609" y="2764110"/>
            <a:ext cx="4013448" cy="4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$602,264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5772448" y="3380110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Target Profit (+20%)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56609" y="3683943"/>
            <a:ext cx="4013448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+$100,377 gap to close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868710"/>
            <a:ext cx="811634" cy="254422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555129" y="909265"/>
            <a:ext cx="1106463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1177230"/>
            <a:ext cx="3308003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Profitability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3943" y="1736601"/>
            <a:ext cx="8196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Despite three F&amp;B revenue streams, ticket sales still account for 51.2% of total profit. Hot Food represents only 9.5% of profit despite having the highest unit margin at $6.00/dish, revealing an untapped revenue opportunity.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3943" y="2322314"/>
            <a:ext cx="8196114" cy="1952476"/>
          </a:xfrm>
          <a:prstGeom prst="roundRect">
            <a:avLst>
              <a:gd name="adj" fmla="val 1040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8706" y="2327077"/>
            <a:ext cx="8186589" cy="3885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14214" y="2413025"/>
            <a:ext cx="264006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72557" y="2413025"/>
            <a:ext cx="22283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Annual Profit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19167" y="2413025"/>
            <a:ext cx="181897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% of Total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56425" y="2413025"/>
            <a:ext cx="22307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 Margin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8706" y="2715667"/>
            <a:ext cx="8186589" cy="3885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14214" y="2801615"/>
            <a:ext cx="264006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Tickets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72557" y="2801615"/>
            <a:ext cx="22283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$256,890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19167" y="2801615"/>
            <a:ext cx="181897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51.2%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56425" y="2801615"/>
            <a:ext cx="22307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$5.00 / ticket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8706" y="3104257"/>
            <a:ext cx="8186589" cy="3885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4214" y="3190205"/>
            <a:ext cx="264006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Popcorn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72557" y="3190205"/>
            <a:ext cx="22283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$121,238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19167" y="3190205"/>
            <a:ext cx="181897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24.2%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56425" y="3190205"/>
            <a:ext cx="22307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$4.25 / unit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8706" y="3492847"/>
            <a:ext cx="8186589" cy="3885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14214" y="3578796"/>
            <a:ext cx="264006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Soda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72557" y="3578796"/>
            <a:ext cx="22283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$75,944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119167" y="3578796"/>
            <a:ext cx="181897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15.1%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56425" y="3578796"/>
            <a:ext cx="22307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$2.50 / unit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8706" y="3881438"/>
            <a:ext cx="8186589" cy="3885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8854" y="3881438"/>
            <a:ext cx="2455962" cy="388590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14214" y="3967386"/>
            <a:ext cx="2640062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Hot Food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34816" y="3881438"/>
            <a:ext cx="2046610" cy="388590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31" name="Text 29"/>
          <p:cNvSpPr/>
          <p:nvPr/>
        </p:nvSpPr>
        <p:spPr>
          <a:xfrm>
            <a:off x="3072557" y="3967386"/>
            <a:ext cx="2228329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$47,815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81426" y="3881438"/>
            <a:ext cx="1637258" cy="388590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5119167" y="3967386"/>
            <a:ext cx="1818977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9.5%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18684" y="3881438"/>
            <a:ext cx="2046610" cy="388590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6756425" y="3967386"/>
            <a:ext cx="2230710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$6.00 / dish ← HIGHEST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3741" y="410691"/>
            <a:ext cx="608558" cy="174575"/>
          </a:xfrm>
          <a:prstGeom prst="roundRect">
            <a:avLst>
              <a:gd name="adj" fmla="val 69811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944612" y="441127"/>
            <a:ext cx="944017" cy="113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02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883741" y="615702"/>
            <a:ext cx="3770933" cy="267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Correlation Analysis (Kendall's Tau)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83741" y="2150790"/>
            <a:ext cx="3564285" cy="42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Kendall's Tau correlation matrix was computed across seven primary variables — the best method for identifying correlation among small datasets.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83741" y="2663056"/>
            <a:ext cx="3564285" cy="898847"/>
          </a:xfrm>
          <a:prstGeom prst="roundRect">
            <a:avLst>
              <a:gd name="adj" fmla="val 16948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242" y="2805857"/>
            <a:ext cx="126950" cy="1015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3693" y="2756967"/>
            <a:ext cx="3132832" cy="71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Findings:</a:t>
            </a:r>
            <a:endParaRPr lang="en-US" sz="7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Waiting Time has a positive correlation with CSAT (counterintuitively), suggesting wait time is NOT the primary CSAT driver despite common assumption. Popcorn and Soda sales are highly positively correlated. 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588" y="1082799"/>
            <a:ext cx="3564285" cy="35642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911647"/>
            <a:ext cx="810071" cy="254422"/>
          </a:xfrm>
          <a:prstGeom prst="roundRect">
            <a:avLst>
              <a:gd name="adj" fmla="val 63869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555129" y="952202"/>
            <a:ext cx="1104900" cy="173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3943" y="1220167"/>
            <a:ext cx="4323606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Diagnosing Underperformance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73943" y="1779538"/>
            <a:ext cx="8196114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root cause of F&amp;B underperformance is not a lack of product selection, but a failure to convert foot traffic into additional purchases. Hot Food has the lowest attach rate at 15.5%.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3943" y="2365251"/>
            <a:ext cx="2641774" cy="186660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3570" y="2487141"/>
            <a:ext cx="162446" cy="1624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8352" y="290683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Low F&amp;B Attach Rates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28352" y="3210669"/>
            <a:ext cx="2332955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Hot Food attach rate is only 15.5% vs. 55.5% for Popcorn and 59.1% for Soda — a stark gap in conversion.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51076" y="2365251"/>
            <a:ext cx="2641774" cy="1866602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90703" y="2487141"/>
            <a:ext cx="162446" cy="16244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405485" y="2906837"/>
            <a:ext cx="178169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CSAT Breakdown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3405485" y="3210669"/>
            <a:ext cx="2332955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averaged 4.3/10 with 7 of 12 months below 5.0. Food Quality is the critical detractor at 2.25/10 CSAT when primary.</a:t>
            </a:r>
            <a:endParaRPr lang="en-US" sz="10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28209" y="2365251"/>
            <a:ext cx="2641848" cy="186660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67910" y="2487141"/>
            <a:ext cx="162446" cy="16244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82618" y="2906837"/>
            <a:ext cx="209877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Static Staffing vs. Demand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6182618" y="3210669"/>
            <a:ext cx="233303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FTEs fixed year-round causes understaffing during peaks (25-min waits) and overstaffing during troughs (pure redundancy).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491803"/>
            <a:ext cx="734392" cy="223168"/>
          </a:xfrm>
          <a:prstGeom prst="roundRect">
            <a:avLst>
              <a:gd name="adj" fmla="val 65987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547539" y="528563"/>
            <a:ext cx="1044401" cy="149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73943" y="759396"/>
            <a:ext cx="3383682" cy="322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CSAT Detractor Hierarchy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73943" y="1249114"/>
            <a:ext cx="8653314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Decomposing by primary detractor category reveals a clear hierarchy of customer complaints across 12 months.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3943" y="1686371"/>
            <a:ext cx="4373166" cy="2840236"/>
          </a:xfrm>
          <a:prstGeom prst="roundRect">
            <a:avLst>
              <a:gd name="adj" fmla="val 648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1414" y="1762571"/>
            <a:ext cx="1739057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Detractor Category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28689" y="1762571"/>
            <a:ext cx="1084511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 Months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01417" y="1762571"/>
            <a:ext cx="1084511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CSAT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74145" y="1762571"/>
            <a:ext cx="1302693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8706" y="2023467"/>
            <a:ext cx="1527274" cy="895945"/>
          </a:xfrm>
          <a:prstGeom prst="rect">
            <a:avLst/>
          </a:prstGeom>
          <a:solidFill>
            <a:srgbClr val="E5F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01414" y="2097286"/>
            <a:ext cx="1739057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Quality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28689" y="2097286"/>
            <a:ext cx="1084511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months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01417" y="2097286"/>
            <a:ext cx="1084511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2.25 / 10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74145" y="2097286"/>
            <a:ext cx="845493" cy="74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— direct link to low food revenue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1414" y="2993231"/>
            <a:ext cx="1739057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Cinema Hygiene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28689" y="2993231"/>
            <a:ext cx="1084511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months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01417" y="2993231"/>
            <a:ext cx="1084511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4.2 / 10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74145" y="2993231"/>
            <a:ext cx="845493" cy="561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Moderate — affects repeat visits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1414" y="3702100"/>
            <a:ext cx="1739057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Waiting Time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28689" y="3702100"/>
            <a:ext cx="1084511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months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01417" y="3702100"/>
            <a:ext cx="1084511" cy="18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7.3 / 10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74145" y="3702100"/>
            <a:ext cx="845493" cy="74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— customers forgiving of queues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51165" y="1686371"/>
            <a:ext cx="3523580" cy="1009799"/>
          </a:xfrm>
          <a:prstGeom prst="roundRect">
            <a:avLst>
              <a:gd name="adj" fmla="val 18229"/>
            </a:avLst>
          </a:prstGeom>
          <a:solidFill>
            <a:srgbClr val="FCF2B5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3873" y="1870472"/>
            <a:ext cx="153367" cy="12270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549950" y="1817117"/>
            <a:ext cx="3002087" cy="74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Finding:</a:t>
            </a:r>
            <a:pPr algn="l" indent="0" marL="0">
              <a:lnSpc>
                <a:spcPct val="12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Food Quality registers an average CSAT of 2.25/10 when it is the primary detractor — the strongest direct link to low food revenue.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611" y="412328"/>
            <a:ext cx="603126" cy="169887"/>
          </a:xfrm>
          <a:prstGeom prst="roundRect">
            <a:avLst>
              <a:gd name="adj" fmla="val 70243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1020217" y="442094"/>
            <a:ext cx="941115" cy="110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04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960611" y="611386"/>
            <a:ext cx="4140696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Recovery Plan: Four Targeted Initiatives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611" y="982563"/>
            <a:ext cx="7679978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projections assume a static customer base to remain conservative. The combined impact exceeds the $602,264 target.</a:t>
            </a:r>
            <a:endParaRPr lang="en-US" sz="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619" y="1202606"/>
            <a:ext cx="3575224" cy="8635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96319" y="1546920"/>
            <a:ext cx="139824" cy="1747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53260" y="1302023"/>
            <a:ext cx="1379265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F&amp;B Combo Promotions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653260" y="1509266"/>
            <a:ext cx="3430712" cy="457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75% combo adoption, 12% discount. Bundle: Ticket + Popcorn + Soda. </a:t>
            </a:r>
            <a:pPr algn="l" indent="0" marL="0">
              <a:lnSpc>
                <a:spcPct val="11600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+$462,660</a:t>
            </a:r>
            <a:endParaRPr lang="en-US" sz="7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75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 Rates &amp; Packages can be modified**</a:t>
            </a:r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</a:t>
            </a:r>
            <a:endParaRPr lang="en-US" sz="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50" y="2090961"/>
            <a:ext cx="2681436" cy="8635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6319" y="2435275"/>
            <a:ext cx="139824" cy="1747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206404" y="2350145"/>
            <a:ext cx="130842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Food Quality Control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206404" y="2557388"/>
            <a:ext cx="3774951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Strict QC protocols on hot food. Attach rate rises from 15.5% to 25%. </a:t>
            </a:r>
            <a:pPr algn="l" indent="0" marL="0">
              <a:lnSpc>
                <a:spcPct val="116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+$77,067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4131841" y="2077343"/>
            <a:ext cx="4026694" cy="7144"/>
          </a:xfrm>
          <a:prstGeom prst="roundRect">
            <a:avLst>
              <a:gd name="adj" fmla="val 2087999"/>
            </a:avLst>
          </a:prstGeom>
          <a:solidFill>
            <a:srgbClr val="BACFD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481" y="2979316"/>
            <a:ext cx="1787575" cy="8635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96319" y="3323630"/>
            <a:ext cx="139824" cy="1747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759473" y="3238500"/>
            <a:ext cx="1402259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Delivery App Integration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759473" y="3445743"/>
            <a:ext cx="3235523" cy="137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 F&amp;B on Talabat/Noon. +25% F&amp;B delivery sales uplift. </a:t>
            </a:r>
            <a:pPr algn="l" indent="0" marL="0">
              <a:lnSpc>
                <a:spcPct val="116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+$61,249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3684910" y="2965698"/>
            <a:ext cx="4473625" cy="7144"/>
          </a:xfrm>
          <a:prstGeom prst="roundRect">
            <a:avLst>
              <a:gd name="adj" fmla="val 2087999"/>
            </a:avLst>
          </a:prstGeom>
          <a:solidFill>
            <a:srgbClr val="BACFD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338" y="3867671"/>
            <a:ext cx="893787" cy="8635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696319" y="4097387"/>
            <a:ext cx="139824" cy="1747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312542" y="4057873"/>
            <a:ext cx="1308422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Operational Efficiency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3312542" y="4265116"/>
            <a:ext cx="4771430" cy="275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Flexible scheduling/staffing &amp; training instead of static no. of workers. Resulting in 7.5% efficiency gain on profit base. </a:t>
            </a:r>
            <a:pPr algn="l" indent="0" marL="0">
              <a:lnSpc>
                <a:spcPct val="116000"/>
              </a:lnSpc>
              <a:buNone/>
            </a:pPr>
            <a:r>
              <a:rPr lang="en-US" sz="7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+$37,642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3237979" y="3854053"/>
            <a:ext cx="4920555" cy="7144"/>
          </a:xfrm>
          <a:prstGeom prst="roundRect">
            <a:avLst>
              <a:gd name="adj" fmla="val 2087999"/>
            </a:avLst>
          </a:prstGeom>
          <a:solidFill>
            <a:srgbClr val="BACFD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59471" y="432048"/>
            <a:ext cx="431155" cy="113556"/>
          </a:xfrm>
          <a:prstGeom prst="roundRect">
            <a:avLst>
              <a:gd name="adj" fmla="val 76021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2002631" y="453628"/>
            <a:ext cx="802035" cy="70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05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1959471" y="560859"/>
            <a:ext cx="3311723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Negotiation: Retaining the Cinema Session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959471" y="807393"/>
            <a:ext cx="5224983" cy="196900"/>
          </a:xfrm>
          <a:prstGeom prst="roundRect">
            <a:avLst>
              <a:gd name="adj" fmla="val 54803"/>
            </a:avLst>
          </a:prstGeom>
          <a:solidFill>
            <a:srgbClr val="B6FC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355" y="897210"/>
            <a:ext cx="89892" cy="718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3131" y="859706"/>
            <a:ext cx="5376639" cy="88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Solution:</a:t>
            </a:r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6-month trial period with bi-weekly reporting to mall management showing total profit and F&amp;B spend.</a:t>
            </a:r>
            <a:endParaRPr lang="en-US" sz="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71" y="1090166"/>
            <a:ext cx="2416746" cy="35782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56447" y="1081608"/>
            <a:ext cx="2632695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 operational &amp; logistical changes can achieve 20% minimum profit assuming no additional customers and conservative estimates.</a:t>
            </a:r>
            <a:endParaRPr lang="en-US" sz="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6922" y="1300758"/>
            <a:ext cx="2642220" cy="4955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6431" y="1382167"/>
            <a:ext cx="954137" cy="118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Higher Spend Per Head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4666431" y="1538660"/>
            <a:ext cx="2441302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Evening sessions attract after-work adults with higher disposable income and stronger F&amp;B spend.</a:t>
            </a:r>
            <a:endParaRPr lang="en-US" sz="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46922" y="1834455"/>
            <a:ext cx="2642220" cy="4955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6431" y="1915864"/>
            <a:ext cx="1023565" cy="118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Mall Customer Retention</a:t>
            </a:r>
            <a:endParaRPr lang="en-US" sz="700" dirty="0"/>
          </a:p>
        </p:txBody>
      </p:sp>
      <p:sp>
        <p:nvSpPr>
          <p:cNvPr id="15" name="Text 9"/>
          <p:cNvSpPr/>
          <p:nvPr/>
        </p:nvSpPr>
        <p:spPr>
          <a:xfrm>
            <a:off x="4666431" y="2072357"/>
            <a:ext cx="2441302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 screenings keep mall visitors on-site longer to dine, shop, and spend before the movie begins.</a:t>
            </a:r>
            <a:endParaRPr lang="en-US" sz="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46922" y="2368153"/>
            <a:ext cx="2642220" cy="4955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66431" y="2449562"/>
            <a:ext cx="946547" cy="118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Low-Risk Trial Period</a:t>
            </a:r>
            <a:endParaRPr lang="en-US" sz="700" dirty="0"/>
          </a:p>
        </p:txBody>
      </p:sp>
      <p:sp>
        <p:nvSpPr>
          <p:cNvPr id="18" name="Text 11"/>
          <p:cNvSpPr/>
          <p:nvPr/>
        </p:nvSpPr>
        <p:spPr>
          <a:xfrm>
            <a:off x="4666431" y="2606055"/>
            <a:ext cx="2441302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6-month pilot with regular reporting gives management clear evidence before making a long-term decision.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516359"/>
            <a:ext cx="688777" cy="203225"/>
          </a:xfrm>
          <a:prstGeom prst="roundRect">
            <a:avLst>
              <a:gd name="adj" fmla="val 67465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542479" y="550590"/>
            <a:ext cx="1008906" cy="134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SECTION 06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3943" y="758130"/>
            <a:ext cx="3983310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KPI Framework &amp; Monitoring Plan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73943" y="1203350"/>
            <a:ext cx="865331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KPI maps directly to an identified issue or recovery initiative with a defined monitoring cadence.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73943" y="1480245"/>
            <a:ext cx="8196114" cy="2690366"/>
          </a:xfrm>
          <a:prstGeom prst="roundRect">
            <a:avLst>
              <a:gd name="adj" fmla="val 637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3080" y="1547589"/>
            <a:ext cx="252092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885256" y="1547589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58804" y="1547589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32351" y="1547589"/>
            <a:ext cx="317591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Cadence &amp; Method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3080" y="1845990"/>
            <a:ext cx="252092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Total Profit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85256" y="1845990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$41,824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58804" y="1845990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$50,189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832351" y="1845990"/>
            <a:ext cx="317591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 P&amp;L review — Excel dashboard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3080" y="2144390"/>
            <a:ext cx="252092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Score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885256" y="2144390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4.3 / 10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58804" y="2144390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≥ 7.0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32351" y="2144390"/>
            <a:ext cx="317591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survey aggregate, flag if below 6.0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3080" y="2442790"/>
            <a:ext cx="252092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Hot Food Attach Rate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885256" y="2442790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15.5%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58804" y="2442790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≥ 25%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32351" y="2442790"/>
            <a:ext cx="317591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POS report, split by session time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3080" y="2741191"/>
            <a:ext cx="252092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Combo Adoption Rate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885256" y="2741191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58804" y="2741191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≥ 75%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832351" y="2741191"/>
            <a:ext cx="317591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POS — initiative launch week 1 KPI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3080" y="3039591"/>
            <a:ext cx="252092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Avg Wait Time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885256" y="3039591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mins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58804" y="3039591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≤ 10 mins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832351" y="3039591"/>
            <a:ext cx="317591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manager log; escalate at &gt;15 mins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3080" y="3337992"/>
            <a:ext cx="252092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Customers/FTE Ratio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885256" y="3337992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9.51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58804" y="3337992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≥ 11.0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832351" y="3337992"/>
            <a:ext cx="317591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— adjust flex scheduling if below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3080" y="3636392"/>
            <a:ext cx="252092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Food Quality Complaints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885256" y="3636392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~4 mo/yr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58804" y="3636392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832351" y="3636392"/>
            <a:ext cx="317591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Real-time: manager review of every 1–2 star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93080" y="3934792"/>
            <a:ext cx="2520925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 App Profits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885256" y="3934792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358804" y="3934792"/>
            <a:ext cx="1702296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+25% F&amp;B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32351" y="3934792"/>
            <a:ext cx="317591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 app dashboard (Talabat partner portal)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3943" y="4307532"/>
            <a:ext cx="8196114" cy="14213"/>
          </a:xfrm>
          <a:prstGeom prst="roundRect">
            <a:avLst>
              <a:gd name="adj" fmla="val 1205820"/>
            </a:avLst>
          </a:prstGeom>
          <a:solidFill>
            <a:srgbClr val="384653">
              <a:alpha val="5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73943" y="4458667"/>
            <a:ext cx="865331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Tools:</a:t>
            </a:r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Excel for initial data discovery | Python (Streamlit + Plotly) for interactive stakeholder exploration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1630" y="1836241"/>
            <a:ext cx="4020666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45343" y="2484760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 Questions?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3943" y="2887563"/>
            <a:ext cx="8196114" cy="16892"/>
          </a:xfrm>
          <a:prstGeom prst="roundRect">
            <a:avLst>
              <a:gd name="adj" fmla="val 1202468"/>
            </a:avLst>
          </a:prstGeom>
          <a:solidFill>
            <a:srgbClr val="384653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5343" y="3090565"/>
            <a:ext cx="8653314" cy="216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Interactive Version of the report can be found at</a:t>
            </a:r>
            <a:pPr algn="ctr" indent="0" marL="0">
              <a:lnSpc>
                <a:spcPct val="133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pPr algn="ctr" indent="0" marL="0">
              <a:lnSpc>
                <a:spcPct val="133000"/>
              </a:lnSpc>
              <a:buNone/>
            </a:pPr>
            <a:r>
              <a:rPr lang="en-US" sz="1050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https://kavakcinemadashboard-interview.streamlit.app/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59DD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2026-06-21T22:25:53Z</dcterms:created>
  <dcterms:modified xsi:type="dcterms:W3CDTF">2026-06-21T22:25:53Z</dcterms:modified>
</cp:coreProperties>
</file>